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Times New Roman MT" panose="020B0604020202020204" charset="0"/>
      <p:regular r:id="rId9"/>
    </p:embeddedFont>
    <p:embeddedFont>
      <p:font typeface="Times New Roman MT 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5E17BC-F448-4699-842F-4AB08F11D15E}" v="1" dt="2026-02-05T14:37:14.7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1" d="100"/>
          <a:sy n="61" d="100"/>
        </p:scale>
        <p:origin x="322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LVA HARISH.J" userId="0af196cabd2143af" providerId="LiveId" clId="{8075D703-285D-4619-A728-574CF90BD410}"/>
    <pc:docChg chg="modSld">
      <pc:chgData name="SELVA HARISH.J" userId="0af196cabd2143af" providerId="LiveId" clId="{8075D703-285D-4619-A728-574CF90BD410}" dt="2026-02-05T14:38:05.730" v="8" actId="1076"/>
      <pc:docMkLst>
        <pc:docMk/>
      </pc:docMkLst>
      <pc:sldChg chg="modSp mod">
        <pc:chgData name="SELVA HARISH.J" userId="0af196cabd2143af" providerId="LiveId" clId="{8075D703-285D-4619-A728-574CF90BD410}" dt="2026-02-05T14:38:05.730" v="8" actId="1076"/>
        <pc:sldMkLst>
          <pc:docMk/>
          <pc:sldMk cId="0" sldId="256"/>
        </pc:sldMkLst>
        <pc:spChg chg="mod">
          <ac:chgData name="SELVA HARISH.J" userId="0af196cabd2143af" providerId="LiveId" clId="{8075D703-285D-4619-A728-574CF90BD410}" dt="2026-02-05T14:37:30.262" v="6" actId="113"/>
          <ac:spMkLst>
            <pc:docMk/>
            <pc:sldMk cId="0" sldId="256"/>
            <ac:spMk id="4" creationId="{00000000-0000-0000-0000-000000000000}"/>
          </ac:spMkLst>
        </pc:spChg>
        <pc:spChg chg="mod">
          <ac:chgData name="SELVA HARISH.J" userId="0af196cabd2143af" providerId="LiveId" clId="{8075D703-285D-4619-A728-574CF90BD410}" dt="2026-02-05T14:38:05.730" v="8" actId="1076"/>
          <ac:spMkLst>
            <pc:docMk/>
            <pc:sldMk cId="0" sldId="256"/>
            <ac:spMk id="5" creationId="{00000000-0000-0000-0000-000000000000}"/>
          </ac:spMkLst>
        </pc:spChg>
      </pc:sldChg>
      <pc:sldChg chg="modSp mod">
        <pc:chgData name="SELVA HARISH.J" userId="0af196cabd2143af" providerId="LiveId" clId="{8075D703-285D-4619-A728-574CF90BD410}" dt="2026-01-28T15:01:04.972" v="0" actId="14100"/>
        <pc:sldMkLst>
          <pc:docMk/>
          <pc:sldMk cId="0" sldId="261"/>
        </pc:sldMkLst>
        <pc:spChg chg="mod">
          <ac:chgData name="SELVA HARISH.J" userId="0af196cabd2143af" providerId="LiveId" clId="{8075D703-285D-4619-A728-574CF90BD410}" dt="2026-01-28T15:01:04.972" v="0" actId="14100"/>
          <ac:spMkLst>
            <pc:docMk/>
            <pc:sldMk cId="0" sldId="261"/>
            <ac:spMk id="2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2406159"/>
          </a:xfrm>
          <a:custGeom>
            <a:avLst/>
            <a:gdLst/>
            <a:ahLst/>
            <a:cxnLst/>
            <a:rect l="l" t="t" r="r" b="b"/>
            <a:pathLst>
              <a:path w="18288000" h="2406159">
                <a:moveTo>
                  <a:pt x="0" y="0"/>
                </a:moveTo>
                <a:lnTo>
                  <a:pt x="18288000" y="0"/>
                </a:lnTo>
                <a:lnTo>
                  <a:pt x="18288000" y="2406159"/>
                </a:lnTo>
                <a:lnTo>
                  <a:pt x="0" y="24061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867" b="-3638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612096" y="3619500"/>
            <a:ext cx="11063808" cy="10123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259"/>
              </a:lnSpc>
              <a:spcBef>
                <a:spcPct val="0"/>
              </a:spcBef>
            </a:pPr>
            <a:r>
              <a:rPr lang="en-US" sz="589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AI BASED TRAVEL PLANNER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801600" y="7421216"/>
            <a:ext cx="4750092" cy="19706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41"/>
              </a:lnSpc>
              <a:spcBef>
                <a:spcPct val="0"/>
              </a:spcBef>
            </a:pPr>
            <a:r>
              <a:rPr lang="en-US" sz="2815" b="1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Team Members:</a:t>
            </a:r>
          </a:p>
          <a:p>
            <a:pPr algn="l">
              <a:lnSpc>
                <a:spcPts val="3941"/>
              </a:lnSpc>
              <a:spcBef>
                <a:spcPct val="0"/>
              </a:spcBef>
            </a:pPr>
            <a:r>
              <a:rPr lang="en-US" sz="28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Vijay </a:t>
            </a:r>
            <a:r>
              <a:rPr lang="en-US" sz="2815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Adhith</a:t>
            </a:r>
            <a:r>
              <a:rPr lang="en-US" sz="28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A.R. (235103)</a:t>
            </a:r>
          </a:p>
          <a:p>
            <a:pPr algn="l">
              <a:lnSpc>
                <a:spcPts val="3941"/>
              </a:lnSpc>
              <a:spcBef>
                <a:spcPct val="0"/>
              </a:spcBef>
            </a:pPr>
            <a:r>
              <a:rPr lang="en-US" sz="28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Selva Harish J (235016)</a:t>
            </a:r>
          </a:p>
          <a:p>
            <a:pPr algn="l">
              <a:lnSpc>
                <a:spcPts val="3521"/>
              </a:lnSpc>
              <a:spcBef>
                <a:spcPct val="0"/>
              </a:spcBef>
            </a:pPr>
            <a:endParaRPr lang="en-US" sz="2815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752600" y="7421216"/>
            <a:ext cx="5105429" cy="1977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1"/>
              </a:lnSpc>
              <a:spcBef>
                <a:spcPct val="0"/>
              </a:spcBef>
            </a:pPr>
            <a:r>
              <a:rPr lang="en-US" sz="2815" b="1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Guided By:</a:t>
            </a:r>
            <a:br>
              <a:rPr lang="en-US" sz="28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</a:br>
            <a:r>
              <a:rPr lang="en-IN" sz="2820" dirty="0" err="1"/>
              <a:t>Mrs.S.Vijayasharmila,AP</a:t>
            </a:r>
            <a:r>
              <a:rPr lang="en-IN" sz="2820" dirty="0"/>
              <a:t>/IT</a:t>
            </a:r>
            <a:br>
              <a:rPr lang="en-US" sz="28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</a:br>
            <a:endParaRPr lang="en-US" sz="2815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algn="l">
              <a:lnSpc>
                <a:spcPts val="3941"/>
              </a:lnSpc>
              <a:spcBef>
                <a:spcPct val="0"/>
              </a:spcBef>
            </a:pPr>
            <a:endParaRPr lang="en-US" sz="2815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38200" y="816363"/>
            <a:ext cx="3086100" cy="6837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Introduction 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9867" y="1711508"/>
            <a:ext cx="9784333" cy="3059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221"/>
              </a:lnSpc>
              <a:spcBef>
                <a:spcPct val="0"/>
              </a:spcBef>
            </a:pPr>
            <a:r>
              <a:rPr lang="en-US" sz="3015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Project Domain Overview</a:t>
            </a:r>
          </a:p>
          <a:p>
            <a:pPr marL="607802" lvl="1" indent="-303901" algn="just">
              <a:lnSpc>
                <a:spcPts val="3941"/>
              </a:lnSpc>
              <a:buFont typeface="Arial"/>
              <a:buChar char="•"/>
            </a:pPr>
            <a:r>
              <a:rPr lang="en-US" sz="28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Domain: Travel and Tourism</a:t>
            </a:r>
          </a:p>
          <a:p>
            <a:pPr marL="607802" lvl="1" indent="-303901" algn="just">
              <a:lnSpc>
                <a:spcPts val="3941"/>
              </a:lnSpc>
              <a:buFont typeface="Arial"/>
              <a:buChar char="•"/>
            </a:pPr>
            <a:r>
              <a:rPr lang="en-US" sz="28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Technology used: Artificial Intelligence</a:t>
            </a:r>
          </a:p>
          <a:p>
            <a:pPr marL="607802" lvl="1" indent="-303901" algn="just">
              <a:lnSpc>
                <a:spcPts val="3941"/>
              </a:lnSpc>
              <a:buFont typeface="Arial"/>
              <a:buChar char="•"/>
            </a:pPr>
            <a:r>
              <a:rPr lang="en-US" sz="28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Platform: Mobile / Web Application</a:t>
            </a:r>
          </a:p>
          <a:p>
            <a:pPr marL="607802" lvl="1" indent="-303901" algn="just">
              <a:lnSpc>
                <a:spcPts val="3941"/>
              </a:lnSpc>
              <a:buFont typeface="Arial"/>
              <a:buChar char="•"/>
            </a:pPr>
            <a:r>
              <a:rPr lang="en-US" sz="28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Focus: Smart and budget-based travel planning</a:t>
            </a:r>
          </a:p>
          <a:p>
            <a:pPr marL="607802" lvl="1" indent="-303901" algn="just">
              <a:lnSpc>
                <a:spcPts val="3941"/>
              </a:lnSpc>
              <a:buFont typeface="Arial"/>
              <a:buChar char="•"/>
            </a:pPr>
            <a:r>
              <a:rPr lang="en-US" sz="28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Purpose: Automate trip planning and reduce manual effort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59867" y="5019675"/>
            <a:ext cx="8286304" cy="3554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21"/>
              </a:lnSpc>
              <a:spcBef>
                <a:spcPct val="0"/>
              </a:spcBef>
            </a:pPr>
            <a:r>
              <a:rPr lang="en-US" sz="3015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Background, Trends &amp; Importance</a:t>
            </a:r>
          </a:p>
          <a:p>
            <a:pPr marL="607802" lvl="1" indent="-303901" algn="l">
              <a:lnSpc>
                <a:spcPts val="3941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Rapid growth of online travel applications</a:t>
            </a:r>
          </a:p>
          <a:p>
            <a:pPr marL="607802" lvl="1" indent="-303901" algn="l">
              <a:lnSpc>
                <a:spcPts val="3941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Use of AI for personalized recommendations</a:t>
            </a:r>
          </a:p>
          <a:p>
            <a:pPr marL="607802" lvl="1" indent="-303901" algn="l">
              <a:lnSpc>
                <a:spcPts val="3941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Location-based services using GPS and Maps</a:t>
            </a:r>
          </a:p>
          <a:p>
            <a:pPr marL="607802" lvl="1" indent="-303901" algn="l">
              <a:lnSpc>
                <a:spcPts val="3941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Travel planning is a real-world problem for tourists</a:t>
            </a:r>
          </a:p>
          <a:p>
            <a:pPr marL="607802" lvl="1" indent="-303901" algn="l">
              <a:lnSpc>
                <a:spcPts val="3941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Helps users save time, money, and effort</a:t>
            </a:r>
          </a:p>
          <a:p>
            <a:pPr marL="607802" lvl="1" indent="-303901" algn="l">
              <a:lnSpc>
                <a:spcPts val="3941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Very useful for first-time and budget travelers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65150" y="876300"/>
            <a:ext cx="4521250" cy="6837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Problem Definition 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662621"/>
            <a:ext cx="10980258" cy="3960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77"/>
              </a:lnSpc>
              <a:spcBef>
                <a:spcPct val="0"/>
              </a:spcBef>
            </a:pPr>
            <a:r>
              <a:rPr lang="en-US" sz="3340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Problem Statement</a:t>
            </a:r>
          </a:p>
          <a:p>
            <a:pPr marL="673452" lvl="1" indent="-336726" algn="l">
              <a:lnSpc>
                <a:spcPts val="4366"/>
              </a:lnSpc>
              <a:buFont typeface="Arial"/>
              <a:buChar char="•"/>
            </a:pPr>
            <a:r>
              <a:rPr lang="en-US" sz="3119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Travel planning is time-consuming and confusing</a:t>
            </a:r>
          </a:p>
          <a:p>
            <a:pPr marL="673452" lvl="1" indent="-336726" algn="l">
              <a:lnSpc>
                <a:spcPts val="4366"/>
              </a:lnSpc>
              <a:buFont typeface="Arial"/>
              <a:buChar char="•"/>
            </a:pPr>
            <a:r>
              <a:rPr lang="en-US" sz="3119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Users must search places, routes, hotels, and costs separately</a:t>
            </a:r>
          </a:p>
          <a:p>
            <a:pPr marL="673452" lvl="1" indent="-336726" algn="l">
              <a:lnSpc>
                <a:spcPts val="4366"/>
              </a:lnSpc>
              <a:buFont typeface="Arial"/>
              <a:buChar char="•"/>
            </a:pPr>
            <a:r>
              <a:rPr lang="en-US" sz="3119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Difficult to create a proper day-wise travel plan within budget</a:t>
            </a:r>
          </a:p>
          <a:p>
            <a:pPr marL="673452" lvl="1" indent="-336726" algn="l">
              <a:lnSpc>
                <a:spcPts val="4366"/>
              </a:lnSpc>
              <a:buFont typeface="Arial"/>
              <a:buChar char="•"/>
            </a:pPr>
            <a:r>
              <a:rPr lang="en-US" sz="3119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Manual planning often leads to inaccurate cost estimation</a:t>
            </a:r>
          </a:p>
          <a:p>
            <a:pPr marL="673452" lvl="1" indent="-336726" algn="l">
              <a:lnSpc>
                <a:spcPts val="4366"/>
              </a:lnSpc>
              <a:buFont typeface="Arial"/>
              <a:buChar char="•"/>
            </a:pPr>
            <a:endParaRPr lang="en-US" sz="3119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63147" y="5143500"/>
            <a:ext cx="13473857" cy="2851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75"/>
              </a:lnSpc>
              <a:spcBef>
                <a:spcPct val="0"/>
              </a:spcBef>
            </a:pPr>
            <a:r>
              <a:rPr lang="en-US" sz="333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Need for the Solution</a:t>
            </a:r>
          </a:p>
          <a:p>
            <a:pPr marL="673608" lvl="1" indent="-336804" algn="l">
              <a:lnSpc>
                <a:spcPts val="4368"/>
              </a:lnSpc>
              <a:buFont typeface="Arial"/>
              <a:buChar char="•"/>
            </a:pPr>
            <a:r>
              <a:rPr lang="en-US" sz="312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Existing systems give only partial information</a:t>
            </a:r>
          </a:p>
          <a:p>
            <a:pPr marL="673608" lvl="1" indent="-336804" algn="l">
              <a:lnSpc>
                <a:spcPts val="4368"/>
              </a:lnSpc>
              <a:buFont typeface="Arial"/>
              <a:buChar char="•"/>
            </a:pPr>
            <a:r>
              <a:rPr lang="en-US" sz="312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No single platform for complete trip planning</a:t>
            </a:r>
          </a:p>
          <a:p>
            <a:pPr marL="673608" lvl="1" indent="-336804" algn="l">
              <a:lnSpc>
                <a:spcPts val="4368"/>
              </a:lnSpc>
              <a:buFont typeface="Arial"/>
              <a:buChar char="•"/>
            </a:pPr>
            <a:r>
              <a:rPr lang="en-US" sz="312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Lack of budget-based and personalized planning</a:t>
            </a:r>
          </a:p>
          <a:p>
            <a:pPr marL="673608" lvl="1" indent="-336804" algn="l">
              <a:lnSpc>
                <a:spcPts val="4368"/>
              </a:lnSpc>
              <a:buFont typeface="Arial"/>
              <a:buChar char="•"/>
            </a:pPr>
            <a:r>
              <a:rPr lang="en-US" sz="312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Solving this problem saves time, reduces cost, and improves travel experience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8478"/>
            <a:ext cx="2628900" cy="6837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Objectives 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864954"/>
            <a:ext cx="11379994" cy="339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75"/>
              </a:lnSpc>
              <a:spcBef>
                <a:spcPct val="0"/>
              </a:spcBef>
            </a:pPr>
            <a:r>
              <a:rPr lang="en-US" sz="333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Main Goals</a:t>
            </a:r>
          </a:p>
          <a:p>
            <a:pPr marL="672570" lvl="1" indent="-336285" algn="l">
              <a:lnSpc>
                <a:spcPts val="4361"/>
              </a:lnSpc>
              <a:buFont typeface="Arial"/>
              <a:buChar char="•"/>
            </a:pPr>
            <a:r>
              <a:rPr lang="en-US" sz="31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Analyze existing travel planning systems and identify drawbacks</a:t>
            </a:r>
          </a:p>
          <a:p>
            <a:pPr marL="672570" lvl="1" indent="-336285" algn="l">
              <a:lnSpc>
                <a:spcPts val="4361"/>
              </a:lnSpc>
              <a:buFont typeface="Arial"/>
              <a:buChar char="•"/>
            </a:pPr>
            <a:r>
              <a:rPr lang="en-US" sz="31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Design an efficient and reliable AI-based solution</a:t>
            </a:r>
          </a:p>
          <a:p>
            <a:pPr marL="672570" lvl="1" indent="-336285" algn="l">
              <a:lnSpc>
                <a:spcPts val="4361"/>
              </a:lnSpc>
              <a:buFont typeface="Arial"/>
              <a:buChar char="•"/>
            </a:pPr>
            <a:r>
              <a:rPr lang="en-US" sz="31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Improve user experience, accuracy, and planning efficiency</a:t>
            </a:r>
          </a:p>
          <a:p>
            <a:pPr marL="672570" lvl="1" indent="-336285" algn="l">
              <a:lnSpc>
                <a:spcPts val="4361"/>
              </a:lnSpc>
              <a:buFont typeface="Arial"/>
              <a:buChar char="•"/>
            </a:pPr>
            <a:endParaRPr lang="en-US" sz="3115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28700" y="5260948"/>
            <a:ext cx="11010900" cy="22433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675"/>
              </a:lnSpc>
              <a:spcBef>
                <a:spcPct val="0"/>
              </a:spcBef>
            </a:pPr>
            <a:r>
              <a:rPr lang="en-US" sz="333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Implementation Goals </a:t>
            </a:r>
          </a:p>
          <a:p>
            <a:pPr marL="650981" lvl="1" indent="-325490" algn="l">
              <a:lnSpc>
                <a:spcPts val="4221"/>
              </a:lnSpc>
              <a:buFont typeface="Arial"/>
              <a:buChar char="•"/>
            </a:pPr>
            <a:r>
              <a:rPr lang="en-US" sz="30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Generate budget-based, day-wise travel plans</a:t>
            </a:r>
          </a:p>
          <a:p>
            <a:pPr marL="650981" lvl="1" indent="-325490" algn="l">
              <a:lnSpc>
                <a:spcPts val="4221"/>
              </a:lnSpc>
              <a:buFont typeface="Arial"/>
              <a:buChar char="•"/>
            </a:pPr>
            <a:r>
              <a:rPr lang="en-US" sz="30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Suggest optimized travel routes and accommodations</a:t>
            </a:r>
          </a:p>
          <a:p>
            <a:pPr marL="650981" lvl="1" indent="-325490" algn="l">
              <a:lnSpc>
                <a:spcPts val="4221"/>
              </a:lnSpc>
              <a:buFont typeface="Arial"/>
              <a:buChar char="•"/>
            </a:pPr>
            <a:r>
              <a:rPr lang="en-US" sz="3015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Implement and evaluate the proposed system for effectiveness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805904" y="808127"/>
            <a:ext cx="4305300" cy="6837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Literature Review 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1766350"/>
            <a:ext cx="14837976" cy="3824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19"/>
              </a:lnSpc>
              <a:spcBef>
                <a:spcPct val="0"/>
              </a:spcBef>
            </a:pPr>
            <a:r>
              <a:rPr lang="en-US" sz="2942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Related Works &amp; Key Findings</a:t>
            </a:r>
          </a:p>
          <a:p>
            <a:pPr marL="573491" lvl="1" indent="-286745" algn="l">
              <a:lnSpc>
                <a:spcPts val="3718"/>
              </a:lnSpc>
              <a:buFont typeface="Arial"/>
              <a:buChar char="•"/>
            </a:pPr>
            <a:r>
              <a:rPr lang="en-US" sz="2656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TripAdvisor: Suggests tourist places based on popularity; lacks budget-based planning</a:t>
            </a:r>
          </a:p>
          <a:p>
            <a:pPr marL="573491" lvl="1" indent="-286745" algn="l">
              <a:lnSpc>
                <a:spcPts val="3718"/>
              </a:lnSpc>
              <a:buFont typeface="Arial"/>
              <a:buChar char="•"/>
            </a:pPr>
            <a:r>
              <a:rPr lang="en-US" sz="2656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Google Maps: Optimizes routes and calculates distances; does not provide complete travel plan</a:t>
            </a:r>
          </a:p>
          <a:p>
            <a:pPr marL="573491" lvl="1" indent="-286745" algn="l">
              <a:lnSpc>
                <a:spcPts val="3718"/>
              </a:lnSpc>
              <a:buFont typeface="Arial"/>
              <a:buChar char="•"/>
            </a:pPr>
            <a:r>
              <a:rPr lang="en-US" sz="2656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MakeMyTrip: Good for hotel and flight bookings; no AI-based itinerary</a:t>
            </a:r>
          </a:p>
          <a:p>
            <a:pPr marL="573491" lvl="1" indent="-286745" algn="l">
              <a:lnSpc>
                <a:spcPts val="3718"/>
              </a:lnSpc>
              <a:buFont typeface="Arial"/>
              <a:buChar char="•"/>
            </a:pPr>
            <a:r>
              <a:rPr lang="en-US" sz="2656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AI Travel Planner (Research Paper): Uses ML for personalized recommendations; complex interface</a:t>
            </a:r>
          </a:p>
          <a:p>
            <a:pPr marL="573491" lvl="1" indent="-286745" algn="l">
              <a:lnSpc>
                <a:spcPts val="3718"/>
              </a:lnSpc>
              <a:buFont typeface="Arial"/>
              <a:buChar char="•"/>
            </a:pPr>
            <a:r>
              <a:rPr lang="en-US" sz="2656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Other studies: Focus on recommendation systems, route optimization, and AI in tourism</a:t>
            </a:r>
          </a:p>
          <a:p>
            <a:pPr marL="573491" lvl="1" indent="-286745" algn="l">
              <a:lnSpc>
                <a:spcPts val="3718"/>
              </a:lnSpc>
              <a:buFont typeface="Arial"/>
              <a:buChar char="•"/>
            </a:pPr>
            <a:endParaRPr lang="en-US" sz="2656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800685" y="5143500"/>
            <a:ext cx="4295775" cy="513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21"/>
              </a:lnSpc>
              <a:spcBef>
                <a:spcPct val="0"/>
              </a:spcBef>
            </a:pPr>
            <a:r>
              <a:rPr lang="en-US" sz="3015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Strengths &amp; Limitations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C63219C-BD3B-A64B-DE85-222177BBD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528891"/>
              </p:ext>
            </p:extLst>
          </p:nvPr>
        </p:nvGraphicFramePr>
        <p:xfrm>
          <a:off x="1371600" y="5865818"/>
          <a:ext cx="15316200" cy="3523030"/>
        </p:xfrm>
        <a:graphic>
          <a:graphicData uri="http://schemas.openxmlformats.org/drawingml/2006/table">
            <a:tbl>
              <a:tblPr/>
              <a:tblGrid>
                <a:gridCol w="3829050">
                  <a:extLst>
                    <a:ext uri="{9D8B030D-6E8A-4147-A177-3AD203B41FA5}">
                      <a16:colId xmlns:a16="http://schemas.microsoft.com/office/drawing/2014/main" val="874540806"/>
                    </a:ext>
                  </a:extLst>
                </a:gridCol>
                <a:gridCol w="3829050">
                  <a:extLst>
                    <a:ext uri="{9D8B030D-6E8A-4147-A177-3AD203B41FA5}">
                      <a16:colId xmlns:a16="http://schemas.microsoft.com/office/drawing/2014/main" val="4036097342"/>
                    </a:ext>
                  </a:extLst>
                </a:gridCol>
                <a:gridCol w="3829050">
                  <a:extLst>
                    <a:ext uri="{9D8B030D-6E8A-4147-A177-3AD203B41FA5}">
                      <a16:colId xmlns:a16="http://schemas.microsoft.com/office/drawing/2014/main" val="1071455850"/>
                    </a:ext>
                  </a:extLst>
                </a:gridCol>
                <a:gridCol w="3829050">
                  <a:extLst>
                    <a:ext uri="{9D8B030D-6E8A-4147-A177-3AD203B41FA5}">
                      <a16:colId xmlns:a16="http://schemas.microsoft.com/office/drawing/2014/main" val="44921274"/>
                    </a:ext>
                  </a:extLst>
                </a:gridCol>
              </a:tblGrid>
              <a:tr h="540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System / 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 / 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Strengths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0526649"/>
                  </a:ext>
                </a:extLst>
              </a:tr>
              <a:tr h="540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TripAdvisor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Recommendation System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Popular tourist places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budget planning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829841"/>
                  </a:ext>
                </a:extLst>
              </a:tr>
              <a:tr h="540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Maps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Route Optimization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Accurate distance &amp; routes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travel plan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7901166"/>
                  </a:ext>
                </a:extLst>
              </a:tr>
              <a:tr h="540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MakeMyTrip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Booking Platform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Easy hotel/flight booking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AI-based planning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286415"/>
                  </a:ext>
                </a:extLst>
              </a:tr>
              <a:tr h="540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Travel Planner (Paper)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ML-based Recommendations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Personalized results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Complex UI, limited region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836493"/>
                  </a:ext>
                </a:extLst>
              </a:tr>
              <a:tr h="540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Proposed System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+ Budget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Complete day-wise travel plan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Limited to Tamil Nadu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89829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96392" y="876300"/>
            <a:ext cx="4285208" cy="6837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Proposed Solution 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2443226"/>
            <a:ext cx="7134407" cy="2902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7250" lvl="1" indent="-293625" algn="l">
              <a:lnSpc>
                <a:spcPts val="3808"/>
              </a:lnSpc>
              <a:buFont typeface="Arial"/>
              <a:buChar char="•"/>
            </a:pPr>
            <a:r>
              <a:rPr lang="en-US" sz="27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AI Based Travel Planner automates trip planning</a:t>
            </a:r>
          </a:p>
          <a:p>
            <a:pPr marL="587250" lvl="1" indent="-293625" algn="l">
              <a:lnSpc>
                <a:spcPts val="3808"/>
              </a:lnSpc>
              <a:buFont typeface="Arial"/>
              <a:buChar char="•"/>
            </a:pPr>
            <a:r>
              <a:rPr lang="en-US" sz="27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Generates day-wise travel plan within budget</a:t>
            </a:r>
          </a:p>
          <a:p>
            <a:pPr marL="587250" lvl="1" indent="-293625" algn="l">
              <a:lnSpc>
                <a:spcPts val="3808"/>
              </a:lnSpc>
              <a:spcBef>
                <a:spcPct val="0"/>
              </a:spcBef>
              <a:buFont typeface="Arial"/>
              <a:buChar char="•"/>
            </a:pPr>
            <a:r>
              <a:rPr lang="en-US" sz="27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Integrates tourist info, routes, and costs in one platform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05917" y="1727962"/>
            <a:ext cx="3208883" cy="5732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75"/>
              </a:lnSpc>
              <a:spcBef>
                <a:spcPct val="0"/>
              </a:spcBef>
            </a:pPr>
            <a:r>
              <a:rPr lang="en-US" sz="333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System Overview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15065" y="6204077"/>
            <a:ext cx="7589085" cy="3695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5661" lvl="1" indent="-282830" algn="l">
              <a:lnSpc>
                <a:spcPts val="3668"/>
              </a:lnSpc>
              <a:buFont typeface="Arial"/>
              <a:buChar char="•"/>
            </a:pPr>
            <a:r>
              <a:rPr lang="en-US" sz="26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User Input: Collects location, budget, days, preferences</a:t>
            </a:r>
          </a:p>
          <a:p>
            <a:pPr marL="565661" lvl="1" indent="-282830" algn="l">
              <a:lnSpc>
                <a:spcPts val="3668"/>
              </a:lnSpc>
              <a:buFont typeface="Arial"/>
              <a:buChar char="•"/>
            </a:pPr>
            <a:r>
              <a:rPr lang="en-US" sz="26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AI Engine: Suggests personalized tourist places</a:t>
            </a:r>
          </a:p>
          <a:p>
            <a:pPr marL="565661" lvl="1" indent="-282830" algn="l">
              <a:lnSpc>
                <a:spcPts val="3668"/>
              </a:lnSpc>
              <a:buFont typeface="Arial"/>
              <a:buChar char="•"/>
            </a:pPr>
            <a:r>
              <a:rPr lang="en-US" sz="26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Budget Module: Calculates travel, stay, and food costs</a:t>
            </a:r>
          </a:p>
          <a:p>
            <a:pPr marL="565661" lvl="1" indent="-282830" algn="l">
              <a:lnSpc>
                <a:spcPts val="3668"/>
              </a:lnSpc>
              <a:buFont typeface="Arial"/>
              <a:buChar char="•"/>
            </a:pPr>
            <a:r>
              <a:rPr lang="en-US" sz="26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Route Module: Optimizes travel routes</a:t>
            </a:r>
          </a:p>
          <a:p>
            <a:pPr marL="565661" lvl="1" indent="-282830" algn="l">
              <a:lnSpc>
                <a:spcPts val="3668"/>
              </a:lnSpc>
              <a:buFont typeface="Arial"/>
              <a:buChar char="•"/>
            </a:pPr>
            <a:r>
              <a:rPr lang="en-US" sz="26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Output Module: Shows complete day-wise plan</a:t>
            </a:r>
          </a:p>
          <a:p>
            <a:pPr algn="l">
              <a:lnSpc>
                <a:spcPts val="3668"/>
              </a:lnSpc>
              <a:spcBef>
                <a:spcPct val="0"/>
              </a:spcBef>
            </a:pPr>
            <a:endParaRPr lang="en-US" sz="262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15065" y="5479288"/>
            <a:ext cx="2854672" cy="639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75"/>
              </a:lnSpc>
              <a:spcBef>
                <a:spcPct val="0"/>
              </a:spcBef>
            </a:pPr>
            <a:r>
              <a:rPr lang="en-US" sz="3339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Major Modules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58729" y="2481326"/>
            <a:ext cx="7300571" cy="2426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7250" lvl="1" indent="-293625" algn="l">
              <a:lnSpc>
                <a:spcPts val="3808"/>
              </a:lnSpc>
              <a:buFont typeface="Arial"/>
              <a:buChar char="•"/>
            </a:pPr>
            <a:r>
              <a:rPr lang="en-US" sz="27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AI Based Travel Planner automates trip planning</a:t>
            </a:r>
          </a:p>
          <a:p>
            <a:pPr marL="587250" lvl="1" indent="-293625" algn="l">
              <a:lnSpc>
                <a:spcPts val="3808"/>
              </a:lnSpc>
              <a:buFont typeface="Arial"/>
              <a:buChar char="•"/>
            </a:pPr>
            <a:r>
              <a:rPr lang="en-US" sz="27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Generates day-wise travel plan within budget</a:t>
            </a:r>
          </a:p>
          <a:p>
            <a:pPr marL="587250" lvl="1" indent="-293625" algn="l">
              <a:lnSpc>
                <a:spcPts val="3808"/>
              </a:lnSpc>
              <a:spcBef>
                <a:spcPct val="0"/>
              </a:spcBef>
              <a:buFont typeface="Arial"/>
              <a:buChar char="•"/>
            </a:pPr>
            <a:r>
              <a:rPr lang="en-US" sz="27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Integrates tourist info, routes, and costs in one platform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37662" y="1727962"/>
            <a:ext cx="2559135" cy="5732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75"/>
              </a:lnSpc>
              <a:spcBef>
                <a:spcPct val="0"/>
              </a:spcBef>
            </a:pPr>
            <a:r>
              <a:rPr lang="en-US" sz="333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Key Features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58729" y="6232652"/>
            <a:ext cx="7300571" cy="1950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7250" lvl="1" indent="-293625" algn="l">
              <a:lnSpc>
                <a:spcPts val="3808"/>
              </a:lnSpc>
              <a:buFont typeface="Arial"/>
              <a:buChar char="•"/>
            </a:pPr>
            <a:r>
              <a:rPr lang="en-US" sz="27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Saves time and effort</a:t>
            </a:r>
          </a:p>
          <a:p>
            <a:pPr marL="587250" lvl="1" indent="-293625" algn="l">
              <a:lnSpc>
                <a:spcPts val="3808"/>
              </a:lnSpc>
              <a:buFont typeface="Arial"/>
              <a:buChar char="•"/>
            </a:pPr>
            <a:r>
              <a:rPr lang="en-US" sz="27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Accurate cost estimation</a:t>
            </a:r>
          </a:p>
          <a:p>
            <a:pPr marL="587250" lvl="1" indent="-293625" algn="l">
              <a:lnSpc>
                <a:spcPts val="3808"/>
              </a:lnSpc>
              <a:buFont typeface="Arial"/>
              <a:buChar char="•"/>
            </a:pPr>
            <a:r>
              <a:rPr lang="en-US" sz="272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Personalized, efficient travel plans</a:t>
            </a:r>
          </a:p>
          <a:p>
            <a:pPr algn="l">
              <a:lnSpc>
                <a:spcPts val="3808"/>
              </a:lnSpc>
              <a:spcBef>
                <a:spcPct val="0"/>
              </a:spcBef>
            </a:pPr>
            <a:endParaRPr lang="en-US" sz="272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9958729" y="5479288"/>
            <a:ext cx="1623671" cy="5732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75"/>
              </a:lnSpc>
              <a:spcBef>
                <a:spcPct val="0"/>
              </a:spcBef>
            </a:pPr>
            <a:r>
              <a:rPr lang="en-US" sz="333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Benefits</a:t>
            </a:r>
          </a:p>
        </p:txBody>
      </p:sp>
      <p:sp>
        <p:nvSpPr>
          <p:cNvPr id="11" name="AutoShape 11"/>
          <p:cNvSpPr/>
          <p:nvPr/>
        </p:nvSpPr>
        <p:spPr>
          <a:xfrm>
            <a:off x="9144000" y="1897380"/>
            <a:ext cx="0" cy="736092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96392" y="876300"/>
            <a:ext cx="2685008" cy="6837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References 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96392" y="1992497"/>
            <a:ext cx="17391608" cy="5569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73608" lvl="1" indent="-336804" algn="l">
              <a:lnSpc>
                <a:spcPts val="4368"/>
              </a:lnSpc>
              <a:buFont typeface="Arial"/>
              <a:buChar char="•"/>
            </a:pPr>
            <a:r>
              <a:rPr lang="en-US" sz="312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J. Smith, A. Kumar, “AI-Based Travel Recommendation Systems,” IEEE Transactions on Intelligent Systems, vol. 15, no. 3, pp. 120–128, 2022.</a:t>
            </a:r>
          </a:p>
          <a:p>
            <a:pPr marL="673608" lvl="1" indent="-336804" algn="l">
              <a:lnSpc>
                <a:spcPts val="4368"/>
              </a:lnSpc>
              <a:buFont typeface="Arial"/>
              <a:buChar char="•"/>
            </a:pPr>
            <a:r>
              <a:rPr lang="en-US" sz="312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K. Patel, “Machine Learning in Tourism Applications,” Springer, 2021.</a:t>
            </a:r>
          </a:p>
          <a:p>
            <a:pPr marL="673608" lvl="1" indent="-336804" algn="l">
              <a:lnSpc>
                <a:spcPts val="4368"/>
              </a:lnSpc>
              <a:buFont typeface="Arial"/>
              <a:buChar char="•"/>
            </a:pPr>
            <a:r>
              <a:rPr lang="en-US" sz="312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Google Maps Platform Documentation, 2023. [Online]. Available: https://developers.google.com/maps</a:t>
            </a:r>
          </a:p>
          <a:p>
            <a:pPr marL="673608" lvl="1" indent="-336804" algn="l">
              <a:lnSpc>
                <a:spcPts val="4368"/>
              </a:lnSpc>
              <a:buFont typeface="Arial"/>
              <a:buChar char="•"/>
            </a:pPr>
            <a:r>
              <a:rPr lang="en-US" sz="312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TripAdvisor Official Website, 2023. [Online]. Available: </a:t>
            </a:r>
            <a:r>
              <a:rPr lang="en-US" sz="3120" u="sng" dirty="0">
                <a:solidFill>
                  <a:srgbClr val="28209B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https://www.tripadvisor.com</a:t>
            </a:r>
          </a:p>
          <a:p>
            <a:pPr marL="673608" lvl="1" indent="-336804" algn="l">
              <a:lnSpc>
                <a:spcPts val="4368"/>
              </a:lnSpc>
              <a:buFont typeface="Arial"/>
              <a:buChar char="•"/>
            </a:pPr>
            <a:r>
              <a:rPr lang="en-US" sz="312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MakeMyTrip Official Website, 2023. [Online]. Available: </a:t>
            </a:r>
            <a:r>
              <a:rPr lang="en-US" sz="3120" u="sng" dirty="0">
                <a:solidFill>
                  <a:srgbClr val="28209B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https://www.makemytrip.com</a:t>
            </a:r>
          </a:p>
          <a:p>
            <a:pPr marL="673608" lvl="1" indent="-336804" algn="l">
              <a:lnSpc>
                <a:spcPts val="4368"/>
              </a:lnSpc>
              <a:buFont typeface="Arial"/>
              <a:buChar char="•"/>
            </a:pPr>
            <a:r>
              <a:rPr lang="en-US" sz="312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R. Singh, “Smart Tourism Using AI and IoT,” International Journal of Advanced Research in Computer Science, vol. 12, no. 2, pp. 45–50, 2022.</a:t>
            </a:r>
          </a:p>
          <a:p>
            <a:pPr marL="673608" lvl="1" indent="-336804" algn="l">
              <a:lnSpc>
                <a:spcPts val="4368"/>
              </a:lnSpc>
              <a:buFont typeface="Arial"/>
              <a:buChar char="•"/>
            </a:pPr>
            <a:r>
              <a:rPr lang="en-US" sz="312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Tourism Data Analytics Journal, “AI in Travel Planning,” vol. 15, 2022.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667</Words>
  <Application>Microsoft Office PowerPoint</Application>
  <PresentationFormat>Custom</PresentationFormat>
  <Paragraphs>98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Times New Roman MT Bold</vt:lpstr>
      <vt:lpstr>Calibri</vt:lpstr>
      <vt:lpstr>Times New Roman MT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BASED TRAVEL PLANNER</dc:title>
  <dc:creator>SELVA HARISH.J</dc:creator>
  <cp:lastModifiedBy>SELVA HARISH.J</cp:lastModifiedBy>
  <cp:revision>2</cp:revision>
  <dcterms:created xsi:type="dcterms:W3CDTF">2006-08-16T00:00:00Z</dcterms:created>
  <dcterms:modified xsi:type="dcterms:W3CDTF">2026-02-05T14:38:06Z</dcterms:modified>
  <dc:identifier>DAG_se57TVU</dc:identifier>
</cp:coreProperties>
</file>